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A, 15 segundos. "Somos o grupo PL3-G7. Implementámos cinco funcionalidades de vídeo; hoje apresentamos o Pan &amp; Crop, a que consideramos mais importante."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A, 1 min 30. Explicar o objetivo: o utilizador escolhe molduras em dois ou mais instantes e o sistema anima entre elas, por exemplo para passar um vídeo horizontal a vertical. Explicar porque só Registado e Premium: é a operação mais pesada (processa fotograma a fotograma). Garantia mínima: se falhar, o original não muda e a quota não é debitada.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A, 1 min 30. Percorrer os cinco passos. Sublinhar o passo 3: a pré-visualização é feita no browser, sem custo no servidor. No passo 4 o pedido entra numa fila e o estado aparece em tempo real. Referir um fluxo alternativo e uma exceção; vão aparecer na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B, 1 min. Ler o requisito: "O sistema deve interpolar linearmente a posição e a dimensão da moldura entre keyframes consecutivos". Explicar a tabela: a 2 segundos, metade do tempo entre 0 e 4, a moldura está exatamente a meio. Escolhemos este requisito porque é o núcleo do caso de uso: sem ele não há movimento.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B, 1 min. Ler o critério Dado/Quando/Então. Explicar porque o escolhemos: liga o caso de uso ao modelo de negócio (Registado vs Premium) e protege a infraestrutura. Validamos também no servidor porque a interface pode ser contornada. Mostra a rastreabilidade completa: regra RN1 → requisito → código →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C conduz o computador, pessoa D explica (5 min). Mudar logo para o browser. No passo 3 usar um segundo vídeo que já tem 5 keyframes. No passo 5 mostrar também o contador de operações a descer 1 e o botão Reverter. Se algo falhar, usar a gravação de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 E, 30 segundos. Resumir: o caso de uso está implementado e testado. Assumir a falha conhecida (TST-E2E-02) e dizer como a corrigíamos. Deixar este slide no ecrã durante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8413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 2026/2027 · Fase 1 · Suporte a vídeo no PictuRAS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22599"/>
            <a:ext cx="9810750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&amp; Crop: reenquadrar vídeos ao longo do tempo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7059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 UC-VID-002 · dois requisitos · demonstração do MVP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29012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PL3-G7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6253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Duarte Bravo · Ivo Sousa · João Sousa · Ricardo Cerqueira · Tiago Melo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925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Mestrado em Engenharia Informática · Universidade do Minho · outubro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Pan &amp; Crop anima a moldura de corte entre instantes escolhidos pelo utilizador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8861"/>
          <a:ext cx="10553700" cy="2955727"/>
        </p:xfrm>
        <a:graphic>
          <a:graphicData uri="http://schemas.openxmlformats.org/drawingml/2006/table">
            <a:tbl>
              <a:tblPr/>
              <a:tblGrid>
                <a:gridCol w="2955036"/>
                <a:gridCol w="7598664"/>
              </a:tblGrid>
              <a:tr h="49262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UC-VID-002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9262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Zoom e deslocamento contínuos a partir de keyframes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62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keyframes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62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Keyframes ilimitados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62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Anónimo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acesso (custo de processamento)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62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versão; o original fica intacto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Grupo PL3-G7 (2026), doc-ext-requisitos.pdf, Secção 4.2, RN1–RN4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utilizador define e pré-visualiza no browser; o servidor só gera o vídeo final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9150" y="2043311"/>
            <a:ext cx="1739900" cy="1257201"/>
          </a:xfrm>
          <a:prstGeom prst="roundRect">
            <a:avLst>
              <a:gd name="adj" fmla="val 3536"/>
            </a:avLst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300" y="222746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3300" y="2588121"/>
            <a:ext cx="14224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Moldura e rácio</a:t>
            </a:r>
            <a:endParaRPr lang="en-US" sz="16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7000" y="2595662"/>
            <a:ext cx="254000" cy="152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28950" y="2043311"/>
            <a:ext cx="1739900" cy="1257201"/>
          </a:xfrm>
          <a:prstGeom prst="roundRect">
            <a:avLst>
              <a:gd name="adj" fmla="val 3536"/>
            </a:avLst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13100" y="222746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13100" y="2588121"/>
            <a:ext cx="142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Keyframes</a:t>
            </a:r>
            <a:endParaRPr lang="en-US" sz="16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6800" y="2595662"/>
            <a:ext cx="254000" cy="152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38750" y="2043311"/>
            <a:ext cx="1739900" cy="1257201"/>
          </a:xfrm>
          <a:prstGeom prst="roundRect">
            <a:avLst>
              <a:gd name="adj" fmla="val 3536"/>
            </a:avLst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22900" y="222746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22900" y="2588121"/>
            <a:ext cx="142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Pré-visualizar</a:t>
            </a:r>
            <a:endParaRPr lang="en-US" sz="16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86600" y="2595662"/>
            <a:ext cx="254000" cy="152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448550" y="2043311"/>
            <a:ext cx="1739900" cy="1257201"/>
          </a:xfrm>
          <a:prstGeom prst="roundRect">
            <a:avLst>
              <a:gd name="adj" fmla="val 3536"/>
            </a:avLst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632700" y="222746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632700" y="2588121"/>
            <a:ext cx="142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(fila)</a:t>
            </a:r>
            <a:endParaRPr lang="en-US" sz="1600" dirty="0"/>
          </a:p>
        </p:txBody>
      </p:sp>
      <p:pic>
        <p:nvPicPr>
          <p:cNvPr id="18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6400" y="2595662"/>
            <a:ext cx="254000" cy="1524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652000" y="2036961"/>
            <a:ext cx="1727200" cy="1269901"/>
          </a:xfrm>
          <a:prstGeom prst="roundRect">
            <a:avLst>
              <a:gd name="adj" fmla="val 4000"/>
            </a:avLst>
          </a:prstGeom>
          <a:solidFill>
            <a:srgbClr val="1F4E79"/>
          </a:solidFill>
          <a:ln/>
        </p:spPr>
      </p:sp>
      <p:sp>
        <p:nvSpPr>
          <p:cNvPr id="20" name="Text 14"/>
          <p:cNvSpPr/>
          <p:nvPr/>
        </p:nvSpPr>
        <p:spPr>
          <a:xfrm>
            <a:off x="9829800" y="2214761"/>
            <a:ext cx="142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829800" y="2575421"/>
            <a:ext cx="142240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versão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12800" y="3713262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Alternativo: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editar ou remover um keyframe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12800" y="4134842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moldura menor que 320×240 é bloqueada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doc-ext-requisitos.pdf, UC-VID-002 (fluxo principal, FA1, E1)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REQ-VID-CROP-002: a moldura é interpolada linearmente entre keyframes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986161"/>
            <a:ext cx="523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aceitação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435721"/>
          <a:ext cx="5067300" cy="1756966"/>
        </p:xfrm>
        <a:graphic>
          <a:graphicData uri="http://schemas.openxmlformats.org/drawingml/2006/table">
            <a:tbl>
              <a:tblPr/>
              <a:tblGrid>
                <a:gridCol w="1520190"/>
                <a:gridCol w="3547110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Moldura [x, y, w, h]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s (KF)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[0, 0, 640, 360]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[320, 180, 640, 360]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 (KF)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33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[640, 360, 640, 360]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99200" y="1986161"/>
            <a:ext cx="52324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meio do tempo, a moldura está a meio do caminho.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99200" y="2829322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Prioridade: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i="1" dirty="0">
                <a:solidFill>
                  <a:srgbClr val="DE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99200" y="3352502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Verificação: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teste TST-CROP-01 → </a:t>
            </a:r>
            <a:r>
              <a:rPr lang="en-US" sz="1800" dirty="0">
                <a:solidFill>
                  <a:srgbClr val="27A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doc-ext-requisitos.pdf, Tabela 5.1 e Secção 7.3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REQ-VID-CROP-010: o perfil Registado está limitado a 5 keyframes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986161"/>
            <a:ext cx="523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 de aceitação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2423021"/>
            <a:ext cx="52324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um Registado com 5 keyframes,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tenta adicionar o 6.º,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Então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bloqueado e sugere-se o Premium.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99200" y="1986161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Origem: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regra RN1 do caso de uso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99200" y="2509341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interface e no servidor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3032522"/>
            <a:ext cx="52324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Verificação:</a:t>
            </a:r>
            <a:r>
              <a:rPr lang="en-US" sz="18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teste TST-CROP-05 → </a:t>
            </a:r>
            <a:r>
              <a:rPr lang="en-US" sz="1800" dirty="0">
                <a:solidFill>
                  <a:srgbClr val="27A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doc-ext-requisitos.pdf, Tabela 5.1, Matriz 7.1 e Secção 7.3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Demonstração: de um vídeo horizontal a um vídeo vertical animado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84324" y="1986161"/>
            <a:ext cx="10904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2476" indent="-282476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Rácio 9:16 e keyframes aos 0 s e aos 10 s</a:t>
            </a:r>
            <a:endParaRPr lang="en-US" sz="2000" dirty="0"/>
          </a:p>
          <a:p>
            <a:pPr algn="l" marL="282476" indent="-282476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Pré-visualizar a animação</a:t>
            </a:r>
            <a:endParaRPr lang="en-US" sz="2000" dirty="0"/>
          </a:p>
          <a:p>
            <a:pPr algn="l" marL="282476" indent="-282476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Tentar o 6.º keyframe: bloqueado</a:t>
            </a:r>
            <a:endParaRPr lang="en-US" sz="2000" dirty="0"/>
          </a:p>
          <a:p>
            <a:pPr algn="l" marL="282476" indent="-282476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e acompanhar o progresso</a:t>
            </a:r>
            <a:endParaRPr lang="en-US" sz="2000" dirty="0"/>
          </a:p>
          <a:p>
            <a:pPr algn="l" marL="282476" indent="-282476">
              <a:lnSpc>
                <a:spcPts val="3200"/>
              </a:lnSpc>
              <a:buSzPct val="100000"/>
              <a:buFontTx/>
              <a:buAutoNum type="arabicPeriod" startAt="1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o resultado e a nova versão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843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Pan &amp; Crop funciona de ponta a ponta, com uma limitação conhecida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4710" y="1986161"/>
            <a:ext cx="1083386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090" indent="-2120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implementados e verificados por testes</a:t>
            </a:r>
            <a:endParaRPr lang="en-US" sz="2000" dirty="0"/>
          </a:p>
          <a:p>
            <a:pPr algn="l" marL="212090" indent="-2120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testes automáticos e 8 de 9 testes manuais passam</a:t>
            </a:r>
            <a:endParaRPr lang="en-US" sz="2000" dirty="0"/>
          </a:p>
          <a:p>
            <a:pPr algn="l" marL="212090" indent="-212090">
              <a:lnSpc>
                <a:spcPts val="3000"/>
              </a:lnSpc>
              <a:buSzPct val="100000"/>
              <a:buChar char="•"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Limitação:</a:t>
            </a:r>
            <a:r>
              <a:rPr lang="en-US" sz="2000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submissão demora mais de 2s </a:t>
            </a:r>
            <a:r>
              <a:rPr lang="en-US" sz="2000" i="1" dirty="0">
                <a:solidFill>
                  <a:srgbClr val="333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(REQ-VID-PERF-001)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48476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PL3-G7 · github.com/icsousa/RAS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Referência: Grupo PL3-G7 (2026). PictuRAS, Fase 1 - Suporte a Vídeo. doc-ext-requisitos.pdf, Capítulos 4, 5, 7 e 10.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ctuRAS Fase 1 — Defesa">
  <a:themeElements>
    <a:clrScheme name="PictuRAS Fase 1 — Defesa">
      <a:dk1>
        <a:srgbClr val="1F4E79"/>
      </a:dk1>
      <a:lt1>
        <a:srgbClr val="FFFFFF"/>
      </a:lt1>
      <a:dk2>
        <a:srgbClr val="577A9B"/>
      </a:dk2>
      <a:lt2>
        <a:srgbClr val="E9EDF2"/>
      </a:lt2>
      <a:accent1>
        <a:srgbClr val="2E75B6"/>
      </a:accent1>
      <a:accent2>
        <a:srgbClr val="333F4F"/>
      </a:accent2>
      <a:accent3>
        <a:srgbClr val="595959"/>
      </a:accent3>
      <a:accent4>
        <a:srgbClr val="4A4A4A"/>
      </a:accent4>
      <a:accent5>
        <a:srgbClr val="9AA0A6"/>
      </a:accent5>
      <a:accent6>
        <a:srgbClr val="7995AF"/>
      </a:accent6>
      <a:hlink>
        <a:srgbClr val="0563C1"/>
      </a:hlink>
      <a:folHlink>
        <a:srgbClr val="954F72"/>
      </a:folHlink>
    </a:clrScheme>
    <a:fontScheme name="PictuRAS Fase 1 — Defes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PictuRAS Fase 1 — Defesa</dc:title>
  <dc:subject/>
  <dc:creator/>
  <cp:lastModifiedBy/>
  <cp:revision>1</cp:revision>
  <dcterms:created xsi:type="dcterms:W3CDTF">2026-10-23T15:03:20Z</dcterms:created>
  <dcterms:modified xsi:type="dcterms:W3CDTF">2026-10-23T15:03:20Z</dcterms:modified>
</cp:coreProperties>
</file>